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ADVANCED ROBOTICS  ·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F5F7FA"/>
                </a:solidFill>
                <a:latin typeface="Calibri"/>
              </a:rPr>
              <a:t>VBOGS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Variational Bayes Octree-GS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 i="1">
                <a:solidFill>
                  <a:srgbClr val="B8C2D0"/>
                </a:solidFill>
                <a:latin typeface="Calibri"/>
              </a:rPr>
              <a:t>Uncertainty-aware 3D mapping &amp; next-best-view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0" i="0">
                <a:solidFill>
                  <a:srgbClr val="B8C2D0"/>
                </a:solidFill>
                <a:latin typeface="Calibri"/>
              </a:rPr>
              <a:t>Octree-AnyGS scene scalability  +  Variational-Bayes Gaussian-Splatting uncertainty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0" i="1">
                <a:solidFill>
                  <a:srgbClr val="FFC107"/>
                </a:solidFill>
                <a:latin typeface="Calibri"/>
              </a:rPr>
              <a:t>→  the next camera pose that maximally reduces what the map does not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B8C2D0"/>
                </a:solidFill>
                <a:latin typeface="Calibri"/>
              </a:rPr>
              <a:t>Branch: Explicit-3D-Gaussians   ·   Dataset: KITTI-360 perspective stereo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Why uncertainty-aware mapping?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FFC107"/>
                </a:solidFill>
                <a:latin typeface="Calibri"/>
              </a:rPr>
              <a:t>The gap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Modern 3D Gaussian-Splatting reconstructs what the world looks like — but not where the model is guessing.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An autonomous vehicle mapping a city needs to know which regions are poorly observed so it can go look again.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FFC107"/>
                </a:solidFill>
                <a:latin typeface="Calibri"/>
              </a:rPr>
              <a:t>Two halves, never joined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Octree-GS gives scalable, level-of-detail scenes — but no notion of confidence.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Variational-Bayes GS gives principled per-Gaussian uncertainty — but does not scale to driving-scale scenes.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FFC107"/>
                </a:solidFill>
                <a:latin typeface="Calibri"/>
              </a:rPr>
              <a:t>VBOGS goal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Fuse both, then turn the uncertainty map into an actionable next-best-view (NBV)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554480"/>
            <a:ext cx="4983480" cy="448056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4FC3F7"/>
                </a:solidFill>
                <a:latin typeface="Calibri"/>
              </a:rPr>
              <a:t>The question VBOGS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1">
                <a:solidFill>
                  <a:srgbClr val="F5F7FA"/>
                </a:solidFill>
                <a:latin typeface="Calibri"/>
              </a:rPr>
              <a:t>“Given everything I have mapped so far, where should the camera look next?”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246120"/>
            <a:ext cx="4526280" cy="36576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42900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Knows what is mapped well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Knows what is mapped poorly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Scores candidate poses by expected information gain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Outputs a ranked list of next camera poses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Three components, one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3200400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32826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1 · Octree-AnyGS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67128"/>
            <a:ext cx="3282696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B8C2D0"/>
                </a:solidFill>
                <a:latin typeface="Calibri"/>
              </a:rPr>
              <a:t>Scalable Gaussian-Splatting scene representation. Stores the scene as anchors — voxels at multiple levels of detail (LOD). Cell size shrinks by a fork factor per level: cur_size(l) = voxel_size / fork^l.
PyTorch, SGD-trained on posed RGB frames. A single drive → ~243k anchors across 9 LOD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611880" cy="3200400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801368"/>
            <a:ext cx="32826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2 · VBGS uncertainty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67128"/>
            <a:ext cx="3282696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B8C2D0"/>
                </a:solidFill>
                <a:latin typeface="Calibri"/>
              </a:rPr>
              <a:t>Variational-Bayes Gaussian-Mixture model fit per anchor, post-hoc. Produces a full posterior — Normal-Wishart over (mean, covariance), Dirichlet over mixture weights — not just a point estimate.
JAX. Posterior entropy → one uncertainty scalar per anchor.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611880" cy="3200400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801368"/>
            <a:ext cx="32826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6BB6A"/>
                </a:solidFill>
                <a:latin typeface="Calibri"/>
              </a:rPr>
              <a:t>3 · Next-best-view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67128"/>
            <a:ext cx="3282696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B8C2D0"/>
                </a:solidFill>
                <a:latin typeface="Calibri"/>
              </a:rPr>
              <a:t>Per-anchor uncertainty is splatted through Octree-AnyGS's own LOD renderer into a pixel-space uncertainty image for each candidate camera pose.
Alpha-normalised integration → a score per pose. Output: the ranked next-best views.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Design principle:  </a:t>
            </a:r>
            <a:r>
              <a:rPr sz="1600" b="0" i="0">
                <a:solidFill>
                  <a:srgbClr val="B8C2D0"/>
                </a:solidFill>
                <a:latin typeface="Calibri"/>
              </a:rPr>
              <a:t>the uncertainty head is bolted on after training — Octree-AnyGS Stage 1 is unchanged upstream. Stereo is used to build a depth cloud for the uncertainty fit, not as a training signal.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The five-stage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84831" cy="228600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84831" cy="457200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20848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1B33"/>
                </a:solidFill>
                <a:latin typeface="Calibri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19019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Train scene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880360"/>
            <a:ext cx="1865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Octree-AnyGS on
posed RGB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3" y="260604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C107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3" y="1828800"/>
            <a:ext cx="2084831" cy="228600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52343" y="1828800"/>
            <a:ext cx="2084831" cy="457200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3" y="1865376"/>
            <a:ext cx="20848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1B33"/>
                </a:solidFill>
                <a:latin typeface="Calibri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3" y="2395728"/>
            <a:ext cx="19019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Stereo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1" y="2880360"/>
            <a:ext cx="1865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Disparity → 6D
xyz+rgb point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6" y="260604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C107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1766" y="1828800"/>
            <a:ext cx="2084831" cy="228600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01766" y="1828800"/>
            <a:ext cx="2084831" cy="45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6" y="1865376"/>
            <a:ext cx="20848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1B33"/>
                </a:solidFill>
                <a:latin typeface="Calibri"/>
              </a:rP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6" y="2395728"/>
            <a:ext cx="19019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VBGS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4" y="2880360"/>
            <a:ext cx="1865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Per-anchor variational
Bayes GMM posterior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09" y="260604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C107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1189" y="1828800"/>
            <a:ext cx="2084831" cy="228600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51189" y="1828800"/>
            <a:ext cx="2084831" cy="45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89" y="1865376"/>
            <a:ext cx="20848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1B33"/>
                </a:solidFill>
                <a:latin typeface="Calibri"/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29" y="2395728"/>
            <a:ext cx="19019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Uncertainty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7" y="2880360"/>
            <a:ext cx="1865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Posterior entropy →
scalar U[i] per anchor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2" y="260604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C107"/>
                </a:solidFill>
                <a:latin typeface="Calibr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0612" y="1828800"/>
            <a:ext cx="2084831" cy="228600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00612" y="1828800"/>
            <a:ext cx="2084831" cy="45720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612" y="1865376"/>
            <a:ext cx="20848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1B33"/>
                </a:solidFill>
                <a:latin typeface="Calibri"/>
              </a:rPr>
              <a:t>STAGE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2052" y="2395728"/>
            <a:ext cx="19019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Next-best-view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0340" y="2880360"/>
            <a:ext cx="1865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Splat U, score &amp;
rank candidate poses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434840"/>
            <a:ext cx="11155680" cy="132588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5371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Orchestrated end-to-end by  scripts/run_drive_pipeline.py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19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5F7FA"/>
                </a:solidFill>
                <a:latin typeface="Calibri"/>
              </a:rPr>
              <a:t>prepare → train → stereo → bucket → fit → inspect → uncertainty → map-viz → render → nbv → bundle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1">
                <a:solidFill>
                  <a:srgbClr val="B8C2D0"/>
                </a:solidFill>
                <a:latin typeface="Calibri"/>
              </a:rPr>
              <a:t>Resumable at any stage (--start-at / --stop-after); dispatches each stage to the right Docker service &amp; GPU.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STAGE 1  ·  TRAIN THE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Octree-AnyGS scene representation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Input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Posed RGB frames from KITTI-360 — KITTI-360 layout is adapted to COLMAP format by prepare_kitti360_colmap.py.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Representation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Scene = a flat tensor of anchors; each anchor carries a level l. The anchor IS the voxel at its LOD — no separate voxel object.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cur_size(l) = voxel_size / fork^l  — finer levels = smaller cells.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Each anchor spawns n_offsets Gaussians at render time.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Training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Standard Octree-AnyGS SGD training, unchanged upstream. Progressive LOD growth.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Two appearance back-ends: implicit3D (neural MLP) vs explicit3D (explicit SH) — see slide 12.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554480"/>
            <a:ext cx="4754880" cy="429768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719072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Example — drive 2013_05_28_drive_0007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945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Frames trained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19456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1,000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2578608"/>
            <a:ext cx="429768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798064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Total anchors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79806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243,377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3182112"/>
            <a:ext cx="429768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40156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LOD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40156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785616"/>
            <a:ext cx="429768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00507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Gaussians / anchor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00507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n_offsets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4389120"/>
            <a:ext cx="429768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608576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608576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SGD (PyTorch)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4992624"/>
            <a:ext cx="429768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5257800"/>
            <a:ext cx="4297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1">
                <a:solidFill>
                  <a:srgbClr val="B8C2D0"/>
                </a:solidFill>
                <a:latin typeface="Calibri"/>
              </a:rPr>
              <a:t>Octree-AnyGS is included as a read-only submodule; VBOGS only reuses its grid &amp; geometry path.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STAGE 2  ·  STEREO POINT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From disparity to a 6D RGB point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126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Per stereo pair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Disparity = StereoMatch(img_L, img_R) — pluggable matcher (default OpenCV SGBM; RAFT-Stereo reserved).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depth_L = (K_L.fx · baseline) / disparity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Unproject to camera frame, then transform to world coords with the camera pose.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Concatenate xyz + rgb → a 6D point.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Quality filters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Left-right consistency check, texture threshold, min-disparity &amp; max-depth gates drop low-confidence pixels.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6126480" cy="137160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3659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Two coordinate systems — kept in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5669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C107"/>
                </a:solidFill>
                <a:latin typeface="Calibri"/>
              </a:rPr>
              <a:t>points_world</a:t>
            </a:r>
            <a:r>
              <a:rPr sz="1300" b="0" i="0">
                <a:solidFill>
                  <a:srgbClr val="B8C2D0"/>
                </a:solidFill>
                <a:latin typeface="Calibri"/>
              </a:rPr>
              <a:t>  — bucket points into the Octree grid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C107"/>
                </a:solidFill>
                <a:latin typeface="Calibri"/>
              </a:rPr>
              <a:t>points_norm</a:t>
            </a:r>
            <a:r>
              <a:rPr sz="1300" b="0" i="0">
                <a:solidFill>
                  <a:srgbClr val="B8C2D0"/>
                </a:solidFill>
                <a:latin typeface="Calibri"/>
              </a:rPr>
              <a:t>   — normalized scale that VBGS priors expect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508760"/>
            <a:ext cx="4663440" cy="448056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66420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Drive 0007 — stereo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1214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Matcher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214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SGBM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468880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9689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9689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1,000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944368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07238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Points produced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0723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100,000,000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3419856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5478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Image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5478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1408 × 376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3895344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40233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023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0.594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4370832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49884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fx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4988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552.55 px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4846320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49743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Max 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97433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80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5321808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544982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LR-consistency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44982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1.0 px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5797296"/>
            <a:ext cx="420624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STAGE 3  ·  PER-ANCHOR VBGS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Bucket the cloud, fit a posterior per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9436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FC107"/>
                </a:solidFill>
                <a:latin typeface="Calibri"/>
              </a:rPr>
              <a:t>Bucketing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Each point is assigned to every anchor whose cell contains it — at all LOD levels, not just the finest.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Same integer-grid math Octree-AnyGS uses, so buckets match anchors exactly.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Why all levels: a coarse anchor must reflect what it would see if its LOD were chosen — finest-only would starve coarse anchors and make them look spuriously uncertain.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943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FC107"/>
                </a:solidFill>
                <a:latin typeface="Calibri"/>
              </a:rPr>
              <a:t>Variational-Bayes GMM per anchor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Anchors with &lt; MIN_POINTS_PER_ANCHOR (20) → flagged unobserved.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VBEM fit in batches via vbgs.fit_gmm_step (streaming sufficient statistics).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K-growth: start K = K_INIT, double K while per-point ELBO gain ≥ tolerance, cap at K_MAX.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63040"/>
            <a:ext cx="4892040" cy="457200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Adaptive model complexity (K-growth)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103120"/>
            <a:ext cx="1417320" cy="50292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57984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K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7627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start (K_INIT)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5603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FC3F7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971800"/>
            <a:ext cx="1417320" cy="50292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026664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K =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0449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ΔELBO ≥ tol → 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2900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FC3F7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840480"/>
            <a:ext cx="1417320" cy="50292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895344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K = 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91363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cap (K_MAX)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663440"/>
            <a:ext cx="4434840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800600"/>
            <a:ext cx="4480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Posterior per component:  </a:t>
            </a:r>
            <a:r>
              <a:rPr sz="1350" b="0" i="0">
                <a:solidFill>
                  <a:srgbClr val="B8C2D0"/>
                </a:solidFill>
                <a:latin typeface="Calibri"/>
              </a:rPr>
              <a:t>Normal-Wishart(mean, κ, U, n) over (μ, Σ); Dirichlet α over mixture weights π.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5321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B8C2D0"/>
                </a:solidFill>
                <a:latin typeface="Calibri"/>
              </a:rPr>
              <a:t>Framework bridge: PyTorch ⇄ JAX via numpy arrays on disk — no shared autograd.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STAGE 4  ·  REDUCE TO A SCALAR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Posterior entropy → one number per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943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Observed anchors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U[i] = Σ_k  π̄[k] · H_k   — expected posterior entropy, mixture-weighted.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H_k = closed-form Normal-Wishart entropy + delta (colour) entropy of component k.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π̄ = E[π] from the Dirichlet posterior over mixture weights.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Unobserved anchors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U[i] = U_MAX — anchors with too few points are treated as maximally uncertain.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Why it is comparable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F5F7FA"/>
                </a:solidFill>
                <a:latin typeface="Calibri"/>
              </a:rPr>
              <a:t>All entropies computed in normalized coords → a shared unit scale across every anchor.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83480"/>
            <a:ext cx="5943600" cy="100584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07492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C107"/>
                </a:solidFill>
                <a:latin typeface="Calibri"/>
              </a:rPr>
              <a:t>Intuition:  </a:t>
            </a:r>
            <a:r>
              <a:rPr sz="1350" b="0" i="0">
                <a:solidFill>
                  <a:srgbClr val="B8C2D0"/>
                </a:solidFill>
                <a:latin typeface="Calibri"/>
              </a:rPr>
              <a:t>high κ &amp; n → confident location &amp; shape → low entropy → low U. Sparse / never-seen anchors → high 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508760"/>
            <a:ext cx="4937760" cy="452628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62763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Drive 0007 — uncertainty distribution</a:t>
            </a:r>
          </a:p>
        </p:txBody>
      </p:sp>
      <p:pic>
        <p:nvPicPr>
          <p:cNvPr id="12" name="Picture 11" descr="uncertainty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480560" cy="2800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4617720"/>
            <a:ext cx="4480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FFC107"/>
                </a:solidFill>
                <a:latin typeface="Calibri"/>
              </a:rPr>
              <a:t>243,377</a:t>
            </a:r>
            <a:r>
              <a:rPr sz="1300" b="0" i="0">
                <a:solidFill>
                  <a:srgbClr val="B8C2D0"/>
                </a:solidFill>
                <a:latin typeface="Calibri"/>
              </a:rPr>
              <a:t> anchors total   </a:t>
            </a:r>
            <a:r>
              <a:rPr sz="1500" b="1" i="0">
                <a:solidFill>
                  <a:srgbClr val="FFC107"/>
                </a:solidFill>
                <a:latin typeface="Calibri"/>
              </a:rPr>
              <a:t>·  94,473</a:t>
            </a:r>
            <a:r>
              <a:rPr sz="1300" b="0" i="0">
                <a:solidFill>
                  <a:srgbClr val="B8C2D0"/>
                </a:solidFill>
                <a:latin typeface="Calibri"/>
              </a:rPr>
              <a:t> observed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FFC107"/>
                </a:solidFill>
                <a:latin typeface="Calibri"/>
              </a:rPr>
              <a:t>148,904</a:t>
            </a:r>
            <a:r>
              <a:rPr sz="1300" b="0" i="0">
                <a:solidFill>
                  <a:srgbClr val="B8C2D0"/>
                </a:solidFill>
                <a:latin typeface="Calibri"/>
              </a:rPr>
              <a:t> unobserved → U_MAX ≈ 37.17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1">
                <a:solidFill>
                  <a:srgbClr val="B8C2D0"/>
                </a:solidFill>
                <a:latin typeface="Calibri"/>
              </a:rPr>
              <a:t>observed U: p50 = 23.3, p90 = 31.7, p98 = 34.4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STAGE 5  ·  NEXT-BEST-VIEW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Splat the uncertainty, score the 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852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FC107"/>
                </a:solidFill>
                <a:latin typeface="Calibri"/>
              </a:rPr>
              <a:t>render_scalar()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Reuses Octree-AnyGS LOD mask + generate_gaussians geometry path — but substitutes the per-anchor uncertainty scalar in place of MLP colour.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Per-anchor U is broadcast over n_offsets, masked, and rasterized with gsplat.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Returns an uncertainty image + an alpha image per candidate pose. Occlusion &amp; LOD handled for free.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FC107"/>
                </a:solidFill>
                <a:latin typeface="Calibri"/>
              </a:rPr>
              <a:t>Scoring each candidate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score = Σ uncertainty_image / (Σ alpha_image + ε)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F5F7FA"/>
                </a:solidFill>
                <a:latin typeface="Calibri"/>
              </a:rPr>
              <a:t>Alpha-normalisation rewards poses that see uncertain surfaces — not poses that merely see a lot of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5852160" cy="1051560"/>
          </a:xfrm>
          <a:prstGeom prst="roundRect">
            <a:avLst/>
          </a:prstGeom>
          <a:solidFill>
            <a:srgbClr val="263352"/>
          </a:solidFill>
          <a:ln w="1778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6BB6A"/>
                </a:solidFill>
                <a:latin typeface="Calibri"/>
              </a:rPr>
              <a:t>score  =  Σ U_image  /  (Σ α_image + 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6811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B8C2D0"/>
                </a:solidFill>
                <a:latin typeface="Calibri"/>
              </a:rPr>
              <a:t>expected posterior entropy per unit of visible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463040"/>
            <a:ext cx="5029200" cy="452628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819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Top-ranked candidate — rank 01</a:t>
            </a:r>
          </a:p>
        </p:txBody>
      </p:sp>
      <p:pic>
        <p:nvPicPr>
          <p:cNvPr id="13" name="Picture 12" descr="rank_01_unc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4572000" cy="1220932"/>
          </a:xfrm>
          <a:prstGeom prst="rect">
            <a:avLst/>
          </a:prstGeom>
        </p:spPr>
      </p:pic>
      <p:pic>
        <p:nvPicPr>
          <p:cNvPr id="14" name="Picture 13" descr="rank_01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703320"/>
            <a:ext cx="4572000" cy="12209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53949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B8C2D0"/>
                </a:solidFill>
                <a:latin typeface="Calibri"/>
              </a:rPr>
              <a:t>uncertainty image (top)  ·  alpha / opacity image (bottom)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RESULTS  ·  NEXT-BEST-VIEW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Ranked candidates for drive 0007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760720" cy="448056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Top-5 of 125 test-camera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Calibri"/>
              </a:rPr>
              <a:t>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488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Calibri"/>
              </a:rPr>
              <a:t>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4884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Calibri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Calibri"/>
              </a:rPr>
              <a:t>VIS. ANCHORS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68880"/>
            <a:ext cx="5303520" cy="127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66BB6A"/>
                </a:solidFill>
                <a:latin typeface="Calibri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060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0000000609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6060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66BB6A"/>
                </a:solidFill>
                <a:latin typeface="Calibri"/>
              </a:rPr>
              <a:t>28.63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060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41,414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90088"/>
            <a:ext cx="530352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1546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0000000617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546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28.46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1546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41,506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538728"/>
            <a:ext cx="530352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033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70332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0000000601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0332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27.9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7033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530352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519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#4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2519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0000000625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2519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27.6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2519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636008"/>
            <a:ext cx="530352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8006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800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0000000593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8006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27.3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800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184648"/>
            <a:ext cx="5303520" cy="9525"/>
          </a:xfrm>
          <a:prstGeom prst="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4864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Ranks 3–5 scores approximate; full list in nbv/nbv_scores.json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1554480"/>
            <a:ext cx="4983480" cy="4480560"/>
          </a:xfrm>
          <a:prstGeom prst="roundRect">
            <a:avLst/>
          </a:prstGeom>
          <a:solidFill>
            <a:srgbClr val="263352"/>
          </a:solidFill>
          <a:ln w="2032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17190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6BB6A"/>
                </a:solidFill>
                <a:latin typeface="Calibri"/>
              </a:rPr>
              <a:t>★  SELECTED NEXT-BEST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1031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Frame 0000000609  ·  candidate #76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6974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28.63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3063240"/>
            <a:ext cx="4480560" cy="9525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32095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Σ uncertainty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209544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770,906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3575304"/>
            <a:ext cx="4480560" cy="9525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372160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Σ alpha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72160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26,929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4087368"/>
            <a:ext cx="4480560" cy="9525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42336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Visible anchors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423367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41,414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03720" y="4599432"/>
            <a:ext cx="4480560" cy="9525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474573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Visible Gaussians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74573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40,504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5111496"/>
            <a:ext cx="4480560" cy="9525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52578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8C2D0"/>
                </a:solidFill>
                <a:latin typeface="Calibri"/>
              </a:rPr>
              <a:t>Camera centre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25780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C107"/>
                </a:solidFill>
                <a:latin typeface="Calibri"/>
              </a:rPr>
              <a:t>(361.2, −2580.1, 139.9)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5623560"/>
            <a:ext cx="4480560" cy="9525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3720" y="5815584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1">
                <a:solidFill>
                  <a:srgbClr val="B8C2D0"/>
                </a:solidFill>
                <a:latin typeface="Calibri"/>
              </a:rPr>
              <a:t>This pose maximises expected posterior-entropy reduction per unit of visible surface.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RESULTS  ·  DIAGNOSTIC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Rendered uncertainty across the drive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render_uncertainty_views.py produces side-by-side RGB ↔ uncertainty heatmaps for every camera — 1,000 train + 125 test views for drive 0007.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611880" cy="141732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41_0000000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3483864" cy="465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test view  0000000329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148840"/>
            <a:ext cx="3611880" cy="141732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0073_00000005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7" y="2441448"/>
            <a:ext cx="3483864" cy="465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79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test view  0000000585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2148840"/>
            <a:ext cx="3611880" cy="141732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0099_00000007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6" y="2441448"/>
            <a:ext cx="3483864" cy="4651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6718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test view  0000000793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B8C2D0"/>
                </a:solidFill>
                <a:latin typeface="Calibri"/>
              </a:rPr>
              <a:t>Left = RGB render   ·   Right = uncertainty heatmap (warm = uncertain)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1064240" cy="1554480"/>
          </a:xfrm>
          <a:prstGeom prst="roundRect">
            <a:avLst/>
          </a:prstGeom>
          <a:solidFill>
            <a:srgbClr val="26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5371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C107"/>
                </a:solidFill>
                <a:latin typeface="Calibri"/>
              </a:rPr>
              <a:t>What the heatmaps show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F5F7FA"/>
                </a:solidFill>
                <a:latin typeface="Calibri"/>
              </a:rPr>
              <a:t>Distant facades, sky boundaries and sparsely-observed side streets light up as high-uncertainty.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F5F7FA"/>
                </a:solidFill>
                <a:latin typeface="Calibri"/>
              </a:rPr>
              <a:t>Well-traversed road surface and near-field geometry stay cool — confirming the posterior-entropy signal is spatially meaningful.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BRANCH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Explicit-3D-Gaussians: implicit3D vs explicit3D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The current branch adds a --gaussian-type switch and the configs to compare the two Octree-AnyGS appearance back-ends head-to-head.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440680" cy="3108960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5111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implicit3D  (neural 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5111496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B8C2D0"/>
                </a:solidFill>
                <a:latin typeface="Calibri"/>
              </a:rPr>
              <a:t>Anchors store feature vectors; opacity, covariance and colour come from small MLPs.
• feat_dim = 16
• MLP learning rates for opacity / colour / cov
• More expressive — MLPs can absorb appearance artifacts
• Higher memory &amp; indirection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103120"/>
            <a:ext cx="5440680" cy="3108960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212848"/>
            <a:ext cx="5111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explicit3D  (this branch)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578608"/>
            <a:ext cx="5111496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B8C2D0"/>
                </a:solidFill>
                <a:latin typeface="Calibri"/>
              </a:rPr>
              <a:t>Anchors store explicit spherical-harmonic colour, opacity, scale and rotation directly.
• feature_lr 0.0025 · opacity_lr 0.05
• scaling_lr 0.005 · rotation_lr 0.001 · lambda_dreg 0
• Direct parameterisation, clearer geometry
• Potentially faster, lighter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86868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Experiment configs:  </a:t>
            </a:r>
            <a:r>
              <a:rPr sz="1350" b="0" i="0">
                <a:solidFill>
                  <a:srgbClr val="B8C2D0"/>
                </a:solidFill>
                <a:latin typeface="Calibri"/>
              </a:rPr>
              <a:t>exp02-A_explicit3d_baseline  vs  exp02_B_implicit3d_baseline  — identical pipeline, only the Gaussian type differs, so downstream uncertainty &amp; NBV are directly comparable.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Containerised, multi-framework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B8C2D0"/>
                </a:solidFill>
                <a:latin typeface="Calibri"/>
              </a:rPr>
              <a:t>PyTorch (Octree-AnyGS) and JAX (vbgs) have conflicting CUDA builds — so each runs in its own service, coordinated by a third.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611880" cy="237744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566928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01B33"/>
                </a:solidFill>
                <a:latin typeface="Calibri"/>
              </a:rPr>
              <a:t>vbogs-torch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14016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1B33"/>
                </a:solidFill>
                <a:latin typeface="Calibri"/>
              </a:rPr>
              <a:t>PyTorch · CUDA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3337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B8C2D0"/>
                </a:solidFill>
                <a:latin typeface="Calibri"/>
              </a:rPr>
              <a:t>Octree-AnyGS training, stereo matching, point bucketing, scalar rendering.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03120"/>
            <a:ext cx="3611880" cy="237744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103120"/>
            <a:ext cx="3611880" cy="566928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139696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01B33"/>
                </a:solidFill>
                <a:latin typeface="Calibri"/>
              </a:rPr>
              <a:t>vbogs-jax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14016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1B33"/>
                </a:solidFill>
                <a:latin typeface="Calibri"/>
              </a:rPr>
              <a:t>JAX ·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816352"/>
            <a:ext cx="3337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B8C2D0"/>
                </a:solidFill>
                <a:latin typeface="Calibri"/>
              </a:rPr>
              <a:t>VBGS per-anchor variational fitting, fit inspection, uncertainty scalar computation.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2103120"/>
            <a:ext cx="3611880" cy="2377440"/>
          </a:xfrm>
          <a:prstGeom prst="roundRect">
            <a:avLst/>
          </a:prstGeom>
          <a:solidFill>
            <a:srgbClr val="263352"/>
          </a:solidFill>
          <a:ln w="190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1584" y="2103120"/>
            <a:ext cx="3611880" cy="566928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39696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01B33"/>
                </a:solidFill>
                <a:latin typeface="Calibri"/>
              </a:rPr>
              <a:t>vbogs-pipeline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14016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01B33"/>
                </a:solidFill>
                <a:latin typeface="Calibri"/>
              </a:rPr>
              <a:t>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816352"/>
            <a:ext cx="3337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B8C2D0"/>
                </a:solidFill>
                <a:latin typeface="Calibri"/>
              </a:rPr>
              <a:t>Runs run_drive_pipeline.py, dispatches each stage to the right service, bundles &amp; exports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11091672" cy="137160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C107"/>
                </a:solidFill>
                <a:latin typeface="Calibri"/>
              </a:rPr>
              <a:t>Stack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93792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Shared external Docker volumes: KITTI-360 · COLMAP · OCTREE-ANYGS — created once, mounted in every service.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Deployable via Docker Compose or Portainer (build-from-repository template); optional Google-Drive export of bundled outputs.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Codebase &amp; per-drive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532120" cy="448056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Repository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C107"/>
                </a:solidFill>
                <a:latin typeface="Calibri"/>
              </a:rPr>
              <a:t>scripts/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11 stage entry-points +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1858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run_drive_pipeline.py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1858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master orchestration (M1–M7)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stereo_to_pointcloud.py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3405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495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bucket_points.py / fit_anchors.py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4952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649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compute_uncertainty.py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649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804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score_nbv.py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804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Stage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9592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C107"/>
                </a:solidFill>
                <a:latin typeface="Calibri"/>
              </a:rPr>
              <a:t>vbogs/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9959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shared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1139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render.py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1139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render_scalar — scalar splatting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2686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B8C2D0"/>
                </a:solidFill>
                <a:latin typeface="Calibri"/>
              </a:rPr>
              <a:t>  data_layout.py / io.py / fit_planning.py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2686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423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C107"/>
                </a:solidFill>
                <a:latin typeface="Calibri"/>
              </a:rPr>
              <a:t>Octree-AnyGS/  ·  vbgs/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9423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read-only submodules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C107"/>
                </a:solidFill>
                <a:latin typeface="Calibri"/>
              </a:rPr>
              <a:t>docs/Algorithm.txt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257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authoritative pseudocode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326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C107"/>
                </a:solidFill>
                <a:latin typeface="Calibri"/>
              </a:rPr>
              <a:t>docker/  ·  *compose*.yml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5732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8C2D0"/>
                </a:solidFill>
                <a:latin typeface="Calibri"/>
              </a:rPr>
              <a:t>containerisation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554480"/>
            <a:ext cx="5349240" cy="448056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6642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Per-drive output bundle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14884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pointclouds/stereo/ — 6D world point cloud (NPZ + PLY)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pointclouds/anchors/ — uncertainty-coloured anchors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uncertainty/ — U.npy, components, histogram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views/ — RGB ↔ uncertainty side-by-sides (train+test)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nbv/ — nbv_scores.json, top images, viz heatmaps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prepared/ + octree/ — COLMAP metadata &amp; train config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run_manifest.json — full artifact provenance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892040"/>
            <a:ext cx="4892040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0292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1">
                <a:solidFill>
                  <a:srgbClr val="B8C2D0"/>
                </a:solidFill>
                <a:latin typeface="Calibri"/>
              </a:rPr>
              <a:t>bundle_run_outputs.py curates everything into a versioned, zipped bundle with a manifest — heavy checkpoints stay in their native volumes, referenced by path.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5F7FA"/>
                </a:solidFill>
                <a:latin typeface="Calibri"/>
              </a:rPr>
              <a:t>Known 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43584"/>
            <a:ext cx="201168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438912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⚠  Limitations (acknowledged in design)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Empty-region blindness — render_scalar only splats through existing anchors. Truly never-seen volumes score zero, so NBV steers toward poorly-modelled regions, not unknown space.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ELBO-biased K-selection — the KL term scales with K, so per-point mean ELBO is a pragmatic, not information-theoretically clean, model-selection criterion.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Normalization dependence — cross-anchor entropy comparison only holds because everything is fit in shared normalized coords.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40680" cy="4389120"/>
          </a:xfrm>
          <a:prstGeom prst="roundRect">
            <a:avLst/>
          </a:prstGeom>
          <a:solidFill>
            <a:srgbClr val="263352"/>
          </a:solidFill>
          <a:ln w="1524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6BB6A"/>
                </a:solidFill>
                <a:latin typeface="Calibri"/>
              </a:rPr>
              <a:t>→  Future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Volumetric occupancy prior or per-pixel “unknown ray” penalty to enable true exploration into empty space.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Held-out log-likelihood or BIC for principled K-selection.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RAFT-Stereo matcher for denser, longer-range depth.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Continual variant — fit_gmm_step already supports streaming updates as new frames arrive.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4FC3F7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F5F7FA"/>
                </a:solidFill>
                <a:latin typeface="Calibri"/>
              </a:rPr>
              <a:t>Complete M7: human qualitative validation of NBV picks.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5F7FA"/>
                </a:solidFill>
                <a:latin typeface="Calibri"/>
              </a:rPr>
              <a:t>VBOGS in one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2331720" cy="713232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5234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24328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F5F7FA"/>
                </a:solidFill>
                <a:latin typeface="Calibri"/>
              </a:rPr>
              <a:t>A post-hoc Bayesian uncertainty head on a scalable Octree-GS scene, turned into a next-best-view planner for autonomous-vehicle mapping.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2331720" cy="713232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2102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93008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F5F7FA"/>
                </a:solidFill>
                <a:latin typeface="Calibri"/>
              </a:rPr>
              <a:t>5 stages: train scene → stereo cloud → per-anchor variational-Bayes GMM → posterior-entropy scalar → splat &amp; score candidate poses.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2331720" cy="713232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970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61688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F5F7FA"/>
                </a:solidFill>
                <a:latin typeface="Calibri"/>
              </a:rPr>
              <a:t>The map doesn't just know what the world looks like — it knows where it is uncertain, and can act on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12080"/>
            <a:ext cx="2331720" cy="713232"/>
          </a:xfrm>
          <a:prstGeom prst="roundRect">
            <a:avLst/>
          </a:prstGeom>
          <a:solidFill>
            <a:srgbClr val="2633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5838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C107"/>
                </a:solidFill>
                <a:latin typeface="Calibri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230368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F5F7FA"/>
                </a:solidFill>
                <a:latin typeface="Calibri"/>
              </a:rPr>
              <a:t>M1–M6 implemented &amp; containerised; demonstrated end-to-end on KITTI-360 drive 0007 (243k anchors, 100M stereo points, 125 NBV candidates ranked).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B8C2D0"/>
                </a:solidFill>
                <a:latin typeface="Calibri"/>
              </a:rPr>
              <a:t>VBOGS  ·  Variational Bayes Octree-GS  ·  Branch: Explicit-3D-Gaussians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8C2D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